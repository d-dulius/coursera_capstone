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DABBAA-EE5B-4D30-8526-0319CDF60221}">
          <p14:sldIdLst>
            <p14:sldId id="256"/>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Monday, February 1, 2021</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6418402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Monday, February 1, 2021</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686139071"/>
      </p:ext>
    </p:extLst>
  </p:cSld>
  <p:clrMap bg1="lt1" tx1="dk1" bg2="lt2" tx2="dk2" accent1="accent1" accent2="accent2" accent3="accent3" accent4="accent4" accent5="accent5" accent6="accent6" hlink="hlink" folHlink="folHlink"/>
  <p:sldLayoutIdLst>
    <p:sldLayoutId id="2147483735" r:id="rId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36F292AA-C8DB-4CAA-97C9-456CF8540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3" descr="Abstract background of connected blue lines">
            <a:extLst>
              <a:ext uri="{FF2B5EF4-FFF2-40B4-BE49-F238E27FC236}">
                <a16:creationId xmlns:a16="http://schemas.microsoft.com/office/drawing/2014/main" id="{B5AEEC4F-BBC6-441B-8050-74B2E9EE62BB}"/>
              </a:ext>
            </a:extLst>
          </p:cNvPr>
          <p:cNvPicPr>
            <a:picLocks noChangeAspect="1"/>
          </p:cNvPicPr>
          <p:nvPr/>
        </p:nvPicPr>
        <p:blipFill rotWithShape="1">
          <a:blip r:embed="rId2"/>
          <a:srcRect l="47135" r="15234"/>
          <a:stretch/>
        </p:blipFill>
        <p:spPr>
          <a:xfrm>
            <a:off x="-1" y="10"/>
            <a:ext cx="4587901" cy="6857990"/>
          </a:xfrm>
          <a:prstGeom prst="rect">
            <a:avLst/>
          </a:prstGeom>
        </p:spPr>
      </p:pic>
      <p:sp>
        <p:nvSpPr>
          <p:cNvPr id="11" name="Rectangle 10">
            <a:extLst>
              <a:ext uri="{FF2B5EF4-FFF2-40B4-BE49-F238E27FC236}">
                <a16:creationId xmlns:a16="http://schemas.microsoft.com/office/drawing/2014/main" id="{AA065953-3D69-4CD4-80C3-DF10DEB4C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902" y="-429"/>
            <a:ext cx="7604097" cy="6857571"/>
          </a:xfrm>
          <a:prstGeom prst="rect">
            <a:avLst/>
          </a:prstGeom>
          <a:gradFill>
            <a:gsLst>
              <a:gs pos="0">
                <a:schemeClr val="accent6">
                  <a:lumMod val="75000"/>
                  <a:alpha val="73000"/>
                </a:schemeClr>
              </a:gs>
              <a:gs pos="100000">
                <a:schemeClr val="accent2"/>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B36DB5-F10D-4EDB-87E2-ECB9301FF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901" y="0"/>
            <a:ext cx="7604097" cy="6858000"/>
          </a:xfrm>
          <a:prstGeom prst="rect">
            <a:avLst/>
          </a:prstGeom>
          <a:gradFill>
            <a:gsLst>
              <a:gs pos="0">
                <a:schemeClr val="accent5">
                  <a:alpha val="37000"/>
                </a:schemeClr>
              </a:gs>
              <a:gs pos="98000">
                <a:schemeClr val="accent2">
                  <a:alpha val="66000"/>
                </a:scheme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46F195D-95DC-419E-BBC1-E2B601A60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599847" y="4355164"/>
            <a:ext cx="7592151" cy="2502836"/>
          </a:xfrm>
          <a:prstGeom prst="rect">
            <a:avLst/>
          </a:prstGeom>
          <a:gradFill>
            <a:gsLst>
              <a:gs pos="22000">
                <a:schemeClr val="accent6">
                  <a:alpha val="39000"/>
                </a:schemeClr>
              </a:gs>
              <a:gs pos="82000">
                <a:schemeClr val="accent5">
                  <a:alpha val="19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256CF5B-1DAD-4912-86B9-FCA733692F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704304">
            <a:off x="6080918" y="830588"/>
            <a:ext cx="4998441" cy="4998441"/>
          </a:xfrm>
          <a:prstGeom prst="ellipse">
            <a:avLst/>
          </a:prstGeom>
          <a:gradFill>
            <a:gsLst>
              <a:gs pos="39000">
                <a:schemeClr val="accent4">
                  <a:lumMod val="20000"/>
                  <a:lumOff val="80000"/>
                  <a:alpha val="0"/>
                </a:schemeClr>
              </a:gs>
              <a:gs pos="100000">
                <a:schemeClr val="accent6">
                  <a:alpha val="18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B57B653-AA33-4D50-B674-595CD47E9EA0}"/>
              </a:ext>
            </a:extLst>
          </p:cNvPr>
          <p:cNvSpPr>
            <a:spLocks noGrp="1"/>
          </p:cNvSpPr>
          <p:nvPr>
            <p:ph type="ctrTitle"/>
          </p:nvPr>
        </p:nvSpPr>
        <p:spPr>
          <a:xfrm>
            <a:off x="5275425" y="768485"/>
            <a:ext cx="6133656" cy="3169674"/>
          </a:xfrm>
        </p:spPr>
        <p:txBody>
          <a:bodyPr>
            <a:noAutofit/>
          </a:bodyPr>
          <a:lstStyle/>
          <a:p>
            <a:pPr algn="r"/>
            <a:r>
              <a:rPr lang="en-GB" sz="2400" dirty="0">
                <a:solidFill>
                  <a:schemeClr val="bg1"/>
                </a:solidFill>
              </a:rPr>
              <a:t>Identifying Attractive Neighbourhoods in London for Opening an Upmarket Cocktail Bar Using Machine Learning and K-Means Clustering</a:t>
            </a:r>
          </a:p>
        </p:txBody>
      </p:sp>
      <p:sp>
        <p:nvSpPr>
          <p:cNvPr id="3" name="Subtitle 2">
            <a:extLst>
              <a:ext uri="{FF2B5EF4-FFF2-40B4-BE49-F238E27FC236}">
                <a16:creationId xmlns:a16="http://schemas.microsoft.com/office/drawing/2014/main" id="{2F9557AB-153B-4211-A756-323AE99F3959}"/>
              </a:ext>
            </a:extLst>
          </p:cNvPr>
          <p:cNvSpPr>
            <a:spLocks noGrp="1"/>
          </p:cNvSpPr>
          <p:nvPr>
            <p:ph type="subTitle" idx="1"/>
          </p:nvPr>
        </p:nvSpPr>
        <p:spPr>
          <a:xfrm>
            <a:off x="5862918" y="4793128"/>
            <a:ext cx="5462494" cy="1141157"/>
          </a:xfrm>
        </p:spPr>
        <p:txBody>
          <a:bodyPr>
            <a:normAutofit/>
          </a:bodyPr>
          <a:lstStyle/>
          <a:p>
            <a:pPr algn="r"/>
            <a:r>
              <a:rPr lang="en-GB" sz="1400" dirty="0">
                <a:solidFill>
                  <a:schemeClr val="bg1"/>
                </a:solidFill>
              </a:rPr>
              <a:t>Daumantas Dulius</a:t>
            </a:r>
          </a:p>
          <a:p>
            <a:pPr algn="r"/>
            <a:r>
              <a:rPr lang="en-GB" sz="1400" dirty="0">
                <a:solidFill>
                  <a:schemeClr val="bg1"/>
                </a:solidFill>
              </a:rPr>
              <a:t>31/01/2021</a:t>
            </a:r>
          </a:p>
          <a:p>
            <a:pPr algn="r"/>
            <a:endParaRPr lang="en-GB" sz="1400" dirty="0">
              <a:solidFill>
                <a:schemeClr val="bg1"/>
              </a:solidFill>
            </a:endParaRPr>
          </a:p>
        </p:txBody>
      </p:sp>
    </p:spTree>
    <p:extLst>
      <p:ext uri="{BB962C8B-B14F-4D97-AF65-F5344CB8AC3E}">
        <p14:creationId xmlns:p14="http://schemas.microsoft.com/office/powerpoint/2010/main" val="2328139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5109091"/>
          </a:xfrm>
          <a:prstGeom prst="rect">
            <a:avLst/>
          </a:prstGeom>
          <a:noFill/>
        </p:spPr>
        <p:txBody>
          <a:bodyPr wrap="square" rtlCol="0">
            <a:spAutoFit/>
          </a:bodyPr>
          <a:lstStyle/>
          <a:p>
            <a:r>
              <a:rPr lang="en-GB" sz="2000" b="1" dirty="0"/>
              <a:t>Background</a:t>
            </a:r>
          </a:p>
          <a:p>
            <a:endParaRPr lang="en-GB" dirty="0"/>
          </a:p>
          <a:p>
            <a:pPr marL="285750" indent="-285750">
              <a:buFont typeface="Arial" panose="020B0604020202020204" pitchFamily="34" charset="0"/>
              <a:buChar char="•"/>
            </a:pPr>
            <a:r>
              <a:rPr lang="en-GB" sz="1600" dirty="0"/>
              <a:t>Nationally, the night-time economy is the UK's fifth-biggest industry, accounting for at least 8% of the UK's employment and annual revenues of £66bn. </a:t>
            </a:r>
          </a:p>
          <a:p>
            <a:endParaRPr lang="en-GB" sz="1600" dirty="0"/>
          </a:p>
          <a:p>
            <a:pPr marL="285750" indent="-285750">
              <a:buFont typeface="Arial" panose="020B0604020202020204" pitchFamily="34" charset="0"/>
              <a:buChar char="•"/>
            </a:pPr>
            <a:r>
              <a:rPr lang="en-GB" sz="1600" dirty="0"/>
              <a:t>Of all of London’s most alluring venues and spaces, the capital’s seemingly endless array of chic and exclusive cocktail bars are perhaps the most inspiring. From ultra-lustrous sky bars overlooking the capital’s famous skyline and riverside to eccentric and quirky lounge bars in the heart of Shoreditch, all offering a sublime otherworldly experience seemingly disconnected from reality. </a:t>
            </a:r>
          </a:p>
          <a:p>
            <a:endParaRPr lang="en-GB" sz="1600" dirty="0"/>
          </a:p>
          <a:p>
            <a:pPr marL="285750" indent="-285750">
              <a:buFont typeface="Arial" panose="020B0604020202020204" pitchFamily="34" charset="0"/>
              <a:buChar char="•"/>
            </a:pPr>
            <a:r>
              <a:rPr lang="en-GB" sz="1600" dirty="0"/>
              <a:t>But if you were to pick but one neighbourhood in London to open up your very own high-end cocktail bar to maximise profits where would you choose? From Mayfair, Chelsea, Kensington to St Pauls, Bond Street, and Waterloo, the possibilities are endless. </a:t>
            </a:r>
          </a:p>
          <a:p>
            <a:endParaRPr lang="en-GB" sz="1600" dirty="0"/>
          </a:p>
          <a:p>
            <a:pPr marL="285750" indent="-285750">
              <a:buFont typeface="Arial" panose="020B0604020202020204" pitchFamily="34" charset="0"/>
              <a:buChar char="•"/>
            </a:pPr>
            <a:r>
              <a:rPr lang="en-GB" sz="1600" dirty="0"/>
              <a:t>Thankfully I have done the hard work for you, by utilising machine learning techniques I will present to you, London’s most appealing neighbourhood to open up your very own little piece of intoxicating heaven.</a:t>
            </a:r>
          </a:p>
          <a:p>
            <a:endParaRPr lang="en-GB" dirty="0"/>
          </a:p>
        </p:txBody>
      </p:sp>
    </p:spTree>
    <p:extLst>
      <p:ext uri="{BB962C8B-B14F-4D97-AF65-F5344CB8AC3E}">
        <p14:creationId xmlns:p14="http://schemas.microsoft.com/office/powerpoint/2010/main" val="1182660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5970865"/>
          </a:xfrm>
          <a:prstGeom prst="rect">
            <a:avLst/>
          </a:prstGeom>
          <a:noFill/>
        </p:spPr>
        <p:txBody>
          <a:bodyPr wrap="square" rtlCol="0">
            <a:spAutoFit/>
          </a:bodyPr>
          <a:lstStyle/>
          <a:p>
            <a:r>
              <a:rPr lang="en-GB" sz="2000" b="1" dirty="0"/>
              <a:t>Data Acquisition &amp; Cleaning</a:t>
            </a:r>
          </a:p>
          <a:p>
            <a:endParaRPr lang="en-GB" dirty="0"/>
          </a:p>
          <a:p>
            <a:pPr marL="285750" indent="-285750">
              <a:buFont typeface="Arial" panose="020B0604020202020204" pitchFamily="34" charset="0"/>
              <a:buChar char="•"/>
            </a:pPr>
            <a:r>
              <a:rPr lang="en-GB" sz="1600" dirty="0"/>
              <a:t>For this study I will make use of geospatial data mostly consisting of the geographical coordinates of each Inner London postcode’s centroid from OpenStreetMap, as well as venue data from Foursquare’ s API including a venue’s name, location, popularity, category, and so on. The data analysis and implementation of machine learning algorithms will be done in Python.</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To begin, each postcode and associated neighbourhood and coordinates of its centroid were scraped and sourced from the web (OpenStreetMap) and compiled into a pandas data frame.</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To obtain venue information within these postcodes, calls were made to Foursquare’ s API, where for each venue the following data was extracted:</a:t>
            </a:r>
          </a:p>
          <a:p>
            <a:pPr marL="285750" indent="-285750">
              <a:buFont typeface="Arial" panose="020B0604020202020204" pitchFamily="34" charset="0"/>
              <a:buChar char="•"/>
            </a:pPr>
            <a:endParaRPr lang="en-GB" sz="1600" dirty="0"/>
          </a:p>
          <a:p>
            <a:pPr marL="285750" indent="-285750" algn="ctr">
              <a:buFont typeface="Wingdings" panose="05000000000000000000" pitchFamily="2" charset="2"/>
              <a:buChar char="Ø"/>
            </a:pPr>
            <a:r>
              <a:rPr lang="en-GB" sz="1400" dirty="0"/>
              <a:t>Neighbourhood Latitude</a:t>
            </a:r>
          </a:p>
          <a:p>
            <a:pPr marL="285750" indent="-285750" algn="ctr">
              <a:buFont typeface="Wingdings" panose="05000000000000000000" pitchFamily="2" charset="2"/>
              <a:buChar char="Ø"/>
            </a:pPr>
            <a:r>
              <a:rPr lang="en-GB" sz="1400" dirty="0"/>
              <a:t>Neighbourhood Longitude </a:t>
            </a:r>
          </a:p>
          <a:p>
            <a:pPr marL="285750" indent="-285750" algn="ctr">
              <a:buFont typeface="Wingdings" panose="05000000000000000000" pitchFamily="2" charset="2"/>
              <a:buChar char="Ø"/>
            </a:pPr>
            <a:r>
              <a:rPr lang="en-GB" sz="1400" dirty="0"/>
              <a:t>Venue</a:t>
            </a:r>
          </a:p>
          <a:p>
            <a:pPr marL="285750" indent="-285750" algn="ctr">
              <a:buFont typeface="Wingdings" panose="05000000000000000000" pitchFamily="2" charset="2"/>
              <a:buChar char="Ø"/>
            </a:pPr>
            <a:r>
              <a:rPr lang="en-GB" sz="1400" dirty="0"/>
              <a:t>Venue Latitude</a:t>
            </a:r>
          </a:p>
          <a:p>
            <a:pPr marL="285750" indent="-285750" algn="ctr">
              <a:buFont typeface="Wingdings" panose="05000000000000000000" pitchFamily="2" charset="2"/>
              <a:buChar char="Ø"/>
            </a:pPr>
            <a:r>
              <a:rPr lang="en-GB" sz="1400" dirty="0"/>
              <a:t>Venue Longitude</a:t>
            </a:r>
          </a:p>
          <a:p>
            <a:pPr marL="285750" indent="-285750" algn="ctr">
              <a:buFont typeface="Wingdings" panose="05000000000000000000" pitchFamily="2" charset="2"/>
              <a:buChar char="Ø"/>
            </a:pPr>
            <a:r>
              <a:rPr lang="en-GB" sz="1400" dirty="0"/>
              <a:t>Venue Category</a:t>
            </a:r>
          </a:p>
          <a:p>
            <a:pPr marL="285750" indent="-285750">
              <a:buFont typeface="Arial" panose="020B0604020202020204" pitchFamily="34" charset="0"/>
              <a:buChar char="•"/>
            </a:pPr>
            <a:endParaRPr lang="en-GB" sz="1600" dirty="0"/>
          </a:p>
          <a:p>
            <a:endParaRPr lang="en-GB" dirty="0"/>
          </a:p>
          <a:p>
            <a:endParaRPr lang="en-GB" dirty="0"/>
          </a:p>
        </p:txBody>
      </p:sp>
    </p:spTree>
    <p:extLst>
      <p:ext uri="{BB962C8B-B14F-4D97-AF65-F5344CB8AC3E}">
        <p14:creationId xmlns:p14="http://schemas.microsoft.com/office/powerpoint/2010/main" val="141534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1692771"/>
          </a:xfrm>
          <a:prstGeom prst="rect">
            <a:avLst/>
          </a:prstGeom>
          <a:noFill/>
        </p:spPr>
        <p:txBody>
          <a:bodyPr wrap="square" rtlCol="0">
            <a:spAutoFit/>
          </a:bodyPr>
          <a:lstStyle/>
          <a:p>
            <a:r>
              <a:rPr lang="en-GB" sz="2000" b="1" dirty="0"/>
              <a:t>Data Acquisition &amp; Cleaning (2)</a:t>
            </a:r>
          </a:p>
          <a:p>
            <a:endParaRPr lang="en-GB" dirty="0"/>
          </a:p>
          <a:p>
            <a:pPr marL="285750" indent="-285750">
              <a:buFont typeface="Arial" panose="020B0604020202020204" pitchFamily="34" charset="0"/>
              <a:buChar char="•"/>
            </a:pPr>
            <a:r>
              <a:rPr lang="en-GB" sz="1600" dirty="0"/>
              <a:t>The data frame containing the venue information for each area was further cleaned by filtering the entries down to night-time venues only, the first few rows are shown below.</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dirty="0"/>
          </a:p>
        </p:txBody>
      </p:sp>
      <p:pic>
        <p:nvPicPr>
          <p:cNvPr id="3" name="Picture 2">
            <a:extLst>
              <a:ext uri="{FF2B5EF4-FFF2-40B4-BE49-F238E27FC236}">
                <a16:creationId xmlns:a16="http://schemas.microsoft.com/office/drawing/2014/main" id="{DFF3EDB9-3CF4-4A4E-9A72-F2FA87BBBB75}"/>
              </a:ext>
            </a:extLst>
          </p:cNvPr>
          <p:cNvPicPr/>
          <p:nvPr/>
        </p:nvPicPr>
        <p:blipFill>
          <a:blip r:embed="rId2"/>
          <a:stretch>
            <a:fillRect/>
          </a:stretch>
        </p:blipFill>
        <p:spPr>
          <a:xfrm>
            <a:off x="540463" y="1833238"/>
            <a:ext cx="8631245" cy="3812960"/>
          </a:xfrm>
          <a:prstGeom prst="rect">
            <a:avLst/>
          </a:prstGeom>
        </p:spPr>
      </p:pic>
    </p:spTree>
    <p:extLst>
      <p:ext uri="{BB962C8B-B14F-4D97-AF65-F5344CB8AC3E}">
        <p14:creationId xmlns:p14="http://schemas.microsoft.com/office/powerpoint/2010/main" val="184997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4862870"/>
          </a:xfrm>
          <a:prstGeom prst="rect">
            <a:avLst/>
          </a:prstGeom>
          <a:noFill/>
        </p:spPr>
        <p:txBody>
          <a:bodyPr wrap="square" rtlCol="0">
            <a:spAutoFit/>
          </a:bodyPr>
          <a:lstStyle/>
          <a:p>
            <a:r>
              <a:rPr lang="en-GB" sz="2000" b="1" dirty="0"/>
              <a:t>Exploratory Data Analysis</a:t>
            </a:r>
          </a:p>
          <a:p>
            <a:endParaRPr lang="en-GB" dirty="0"/>
          </a:p>
          <a:p>
            <a:pPr marL="285750" indent="-285750">
              <a:buFont typeface="Arial" panose="020B0604020202020204" pitchFamily="34" charset="0"/>
              <a:buChar char="•"/>
            </a:pPr>
            <a:r>
              <a:rPr lang="en-GB" sz="1600" dirty="0"/>
              <a:t>Next, one hot encoding was applied to the filtered data and the proportion of each venue type within each post code was calculated.</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 At this stage the question arises of how to use the data in its current form to work out the most attractive neighbourhood in which to open up a cocktail bar. For simplicity it is assumed that areas with the highest concentration of cocktail bars are likely to be neighbourhoods where running such venues is highly profitable, as local demand is very high.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Thus naturally the next step was to sort each type of venue in each area by its frequency, giving us the ranking of how common each type of venue is for a given post code,</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 This data was then plotted as a bar chart shown on the next slide to give some indication on potential candidates, though further analysis had to be performed as a high fraction of cocktail bars in one area doesn’t necessarily mean it is the most common venue type in that area, in the next few slides I go through how K-means clustering was employed to further narrow down potential neighbourhood candidates.</a:t>
            </a:r>
            <a:endParaRPr lang="en-GB" dirty="0"/>
          </a:p>
        </p:txBody>
      </p:sp>
    </p:spTree>
    <p:extLst>
      <p:ext uri="{BB962C8B-B14F-4D97-AF65-F5344CB8AC3E}">
        <p14:creationId xmlns:p14="http://schemas.microsoft.com/office/powerpoint/2010/main" val="614996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954107"/>
          </a:xfrm>
          <a:prstGeom prst="rect">
            <a:avLst/>
          </a:prstGeom>
          <a:noFill/>
        </p:spPr>
        <p:txBody>
          <a:bodyPr wrap="square" rtlCol="0">
            <a:spAutoFit/>
          </a:bodyPr>
          <a:lstStyle/>
          <a:p>
            <a:r>
              <a:rPr lang="en-GB" sz="2000" b="1" dirty="0"/>
              <a:t>Exploratory Data Analysis (2)</a:t>
            </a:r>
          </a:p>
          <a:p>
            <a:endParaRPr lang="en-GB" dirty="0"/>
          </a:p>
          <a:p>
            <a:endParaRPr lang="en-GB" dirty="0"/>
          </a:p>
        </p:txBody>
      </p:sp>
      <p:pic>
        <p:nvPicPr>
          <p:cNvPr id="3" name="Picture 2">
            <a:extLst>
              <a:ext uri="{FF2B5EF4-FFF2-40B4-BE49-F238E27FC236}">
                <a16:creationId xmlns:a16="http://schemas.microsoft.com/office/drawing/2014/main" id="{06E52992-FF42-4A00-8956-32794F826745}"/>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612561" y="885426"/>
            <a:ext cx="10659122" cy="5402060"/>
          </a:xfrm>
          <a:prstGeom prst="rect">
            <a:avLst/>
          </a:prstGeom>
        </p:spPr>
      </p:pic>
    </p:spTree>
    <p:extLst>
      <p:ext uri="{BB962C8B-B14F-4D97-AF65-F5344CB8AC3E}">
        <p14:creationId xmlns:p14="http://schemas.microsoft.com/office/powerpoint/2010/main" val="3983804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3662541"/>
          </a:xfrm>
          <a:prstGeom prst="rect">
            <a:avLst/>
          </a:prstGeom>
          <a:noFill/>
        </p:spPr>
        <p:txBody>
          <a:bodyPr wrap="square" rtlCol="0">
            <a:spAutoFit/>
          </a:bodyPr>
          <a:lstStyle/>
          <a:p>
            <a:r>
              <a:rPr lang="en-GB" sz="2000" b="1" dirty="0"/>
              <a:t>Implementation of the K-Means Clustering Algorithm</a:t>
            </a:r>
          </a:p>
          <a:p>
            <a:endParaRPr lang="en-GB" dirty="0"/>
          </a:p>
          <a:p>
            <a:pPr marL="285750" indent="-285750">
              <a:buFont typeface="Arial" panose="020B0604020202020204" pitchFamily="34" charset="0"/>
              <a:buChar char="•"/>
            </a:pPr>
            <a:r>
              <a:rPr lang="en-GB" sz="1600" dirty="0"/>
              <a:t>The K-means clustering algorithm is a machine learning method of vector quantisation, which aims to partition n observations into k clusters in which each observation belongs to the cluster with the nearest mean. In other words, observations with similar characteristics (in this case the most common venue types in a given post code) are grouped within the same cluster.</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Upon inspection of the various clusters created using the K-means clustering algorithm, the cluster most suitable for our purposes was identified as cluster 4, shown below. This is because as shown, contained within this cluster are three areas with cocktail bars as the most common night-time venue for those respective post codes, and is the only cluster to contain such areas.</a:t>
            </a:r>
          </a:p>
          <a:p>
            <a:endParaRPr lang="en-GB" dirty="0"/>
          </a:p>
        </p:txBody>
      </p:sp>
      <p:pic>
        <p:nvPicPr>
          <p:cNvPr id="2" name="Picture 1">
            <a:extLst>
              <a:ext uri="{FF2B5EF4-FFF2-40B4-BE49-F238E27FC236}">
                <a16:creationId xmlns:a16="http://schemas.microsoft.com/office/drawing/2014/main" id="{BE2560CE-0CE8-40DD-82D2-45E9C0D55067}"/>
              </a:ext>
            </a:extLst>
          </p:cNvPr>
          <p:cNvPicPr>
            <a:picLocks noChangeAspect="1"/>
          </p:cNvPicPr>
          <p:nvPr/>
        </p:nvPicPr>
        <p:blipFill>
          <a:blip r:embed="rId2"/>
          <a:stretch>
            <a:fillRect/>
          </a:stretch>
        </p:blipFill>
        <p:spPr>
          <a:xfrm>
            <a:off x="7830106" y="3626215"/>
            <a:ext cx="4148830" cy="2607188"/>
          </a:xfrm>
          <a:prstGeom prst="rect">
            <a:avLst/>
          </a:prstGeom>
        </p:spPr>
      </p:pic>
      <p:pic>
        <p:nvPicPr>
          <p:cNvPr id="5" name="Picture 4">
            <a:extLst>
              <a:ext uri="{FF2B5EF4-FFF2-40B4-BE49-F238E27FC236}">
                <a16:creationId xmlns:a16="http://schemas.microsoft.com/office/drawing/2014/main" id="{31BFB987-3711-4691-86AF-0B71CCD47370}"/>
              </a:ext>
            </a:extLst>
          </p:cNvPr>
          <p:cNvPicPr/>
          <p:nvPr/>
        </p:nvPicPr>
        <p:blipFill>
          <a:blip r:embed="rId3"/>
          <a:stretch>
            <a:fillRect/>
          </a:stretch>
        </p:blipFill>
        <p:spPr>
          <a:xfrm>
            <a:off x="483035" y="4073093"/>
            <a:ext cx="7142884" cy="2160310"/>
          </a:xfrm>
          <a:prstGeom prst="rect">
            <a:avLst/>
          </a:prstGeom>
        </p:spPr>
      </p:pic>
    </p:spTree>
    <p:extLst>
      <p:ext uri="{BB962C8B-B14F-4D97-AF65-F5344CB8AC3E}">
        <p14:creationId xmlns:p14="http://schemas.microsoft.com/office/powerpoint/2010/main" val="161061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952F-1FCD-497A-B6B3-DA3B79E0E57D}"/>
              </a:ext>
            </a:extLst>
          </p:cNvPr>
          <p:cNvSpPr txBox="1"/>
          <p:nvPr/>
        </p:nvSpPr>
        <p:spPr>
          <a:xfrm>
            <a:off x="612561" y="408373"/>
            <a:ext cx="8559148" cy="4370427"/>
          </a:xfrm>
          <a:prstGeom prst="rect">
            <a:avLst/>
          </a:prstGeom>
          <a:noFill/>
        </p:spPr>
        <p:txBody>
          <a:bodyPr wrap="square" rtlCol="0">
            <a:spAutoFit/>
          </a:bodyPr>
          <a:lstStyle/>
          <a:p>
            <a:r>
              <a:rPr lang="en-GB" sz="2000" b="1" dirty="0"/>
              <a:t>Recommendations</a:t>
            </a:r>
          </a:p>
          <a:p>
            <a:endParaRPr lang="en-GB" dirty="0"/>
          </a:p>
          <a:p>
            <a:pPr marL="285750" indent="-285750">
              <a:buFont typeface="Arial" panose="020B0604020202020204" pitchFamily="34" charset="0"/>
              <a:buChar char="•"/>
            </a:pPr>
            <a:r>
              <a:rPr lang="en-GB" sz="1600" dirty="0"/>
              <a:t>The three neighbourhoods identified above in Figure 3.1 with cocktail bars as their most common night-time venue are therefore:</a:t>
            </a:r>
          </a:p>
          <a:p>
            <a:pPr marL="285750" indent="-285750">
              <a:buFont typeface="Arial" panose="020B0604020202020204" pitchFamily="34" charset="0"/>
              <a:buChar char="•"/>
            </a:pPr>
            <a:endParaRPr lang="en-GB" sz="1600" dirty="0"/>
          </a:p>
          <a:p>
            <a:pPr marL="285750" indent="-285750">
              <a:buFont typeface="Wingdings" panose="05000000000000000000" pitchFamily="2" charset="2"/>
              <a:buChar char="Ø"/>
            </a:pPr>
            <a:r>
              <a:rPr lang="en-GB" sz="1600" dirty="0"/>
              <a:t>Bloomsbury</a:t>
            </a:r>
          </a:p>
          <a:p>
            <a:pPr marL="285750" indent="-285750">
              <a:buFont typeface="Wingdings" panose="05000000000000000000" pitchFamily="2" charset="2"/>
              <a:buChar char="Ø"/>
            </a:pPr>
            <a:r>
              <a:rPr lang="en-GB" sz="1600" dirty="0"/>
              <a:t>Covent Garden</a:t>
            </a:r>
          </a:p>
          <a:p>
            <a:pPr marL="285750" indent="-285750">
              <a:buFont typeface="Wingdings" panose="05000000000000000000" pitchFamily="2" charset="2"/>
              <a:buChar char="Ø"/>
            </a:pPr>
            <a:r>
              <a:rPr lang="en-GB" sz="1600" dirty="0"/>
              <a:t>Moorgate</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Of these three areas, Moorgate has the highest number of cocktail bars as a fraction of total night-time venues (57%) in the area, in fact it is the only London neighbourhood where cocktail bars make up the majority of night-time venues (excluding clubs).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 Therefore this study recommends Moorgate (EC2) at the most appropriate neighbourhood for one to open up a lavish, new cocktail bar – due to the high local demand, though the other two areas highlighted above (Bloomsbury and Covent Garden) would also be very good options.</a:t>
            </a:r>
          </a:p>
        </p:txBody>
      </p:sp>
    </p:spTree>
    <p:extLst>
      <p:ext uri="{BB962C8B-B14F-4D97-AF65-F5344CB8AC3E}">
        <p14:creationId xmlns:p14="http://schemas.microsoft.com/office/powerpoint/2010/main" val="1020707197"/>
      </p:ext>
    </p:extLst>
  </p:cSld>
  <p:clrMapOvr>
    <a:masterClrMapping/>
  </p:clrMapOvr>
</p:sld>
</file>

<file path=ppt/theme/theme1.xml><?xml version="1.0" encoding="utf-8"?>
<a:theme xmlns:a="http://schemas.openxmlformats.org/drawingml/2006/main" name="GradientRiseVTI">
  <a:themeElements>
    <a:clrScheme name="AnalogousFromDarkSeedLeftStep">
      <a:dk1>
        <a:srgbClr val="000000"/>
      </a:dk1>
      <a:lt1>
        <a:srgbClr val="FFFFFF"/>
      </a:lt1>
      <a:dk2>
        <a:srgbClr val="1C2831"/>
      </a:dk2>
      <a:lt2>
        <a:srgbClr val="F0F3F1"/>
      </a:lt2>
      <a:accent1>
        <a:srgbClr val="E729CF"/>
      </a:accent1>
      <a:accent2>
        <a:srgbClr val="9D17D5"/>
      </a:accent2>
      <a:accent3>
        <a:srgbClr val="6029E7"/>
      </a:accent3>
      <a:accent4>
        <a:srgbClr val="2B41D8"/>
      </a:accent4>
      <a:accent5>
        <a:srgbClr val="2990E7"/>
      </a:accent5>
      <a:accent6>
        <a:srgbClr val="15BEC5"/>
      </a:accent6>
      <a:hlink>
        <a:srgbClr val="3F6FBF"/>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otalTime>40</TotalTime>
  <Words>850</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Avenir Next LT Pro</vt:lpstr>
      <vt:lpstr>Wingdings</vt:lpstr>
      <vt:lpstr>GradientRiseVTI</vt:lpstr>
      <vt:lpstr>Identifying Attractive Neighbourhoods in London for Opening an Upmarket Cocktail Bar Using Machine Learning and K-Means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Attractive Neighbourhoods in London for Opening an Upmarket Cocktail Bar Using Machine Learning and K-Means Clustering</dc:title>
  <dc:creator>Dulius, Daumantas</dc:creator>
  <cp:lastModifiedBy>Dulius, Daumantas</cp:lastModifiedBy>
  <cp:revision>7</cp:revision>
  <dcterms:created xsi:type="dcterms:W3CDTF">2021-02-01T17:58:16Z</dcterms:created>
  <dcterms:modified xsi:type="dcterms:W3CDTF">2021-02-01T18:39:09Z</dcterms:modified>
</cp:coreProperties>
</file>